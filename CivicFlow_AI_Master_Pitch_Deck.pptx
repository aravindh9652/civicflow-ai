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1277295" cy="6126480"/>
          </a:xfrm>
          <a:prstGeom prst="roundRect">
            <a:avLst/>
          </a:prstGeom>
          <a:solidFill>
            <a:srgbClr val="0F15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</a:defRPr>
            </a:pPr>
            <a:r>
              <a:t>SLIDE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CIVICFLOW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06B6D4"/>
                </a:solidFill>
              </a:defRPr>
            </a:pPr>
            <a:r>
              <a:t>AI-Powered Civic Grievance Intelligence &amp; Emergency Response Platform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Team Name: TeamGaneshaa (Team Code: 67UHS3)</a:t>
            </a:r>
            <a:br/>
            <a:br/>
            <a:r>
              <a:t>Team Roster:</a:t>
            </a:r>
            <a:br/>
            <a:r>
              <a:t>• Vajja Aravindh (Lead): Full-Stack &amp; AI Architecture</a:t>
            </a:r>
            <a:br/>
            <a:r>
              <a:t>• Vatsavai Venkatasai Devavarshita: UI/UX &amp; Geospatial Mapping</a:t>
            </a:r>
            <a:br/>
            <a:r>
              <a:t>• Makka Siva: Backend &amp; Data Pipelines</a:t>
            </a:r>
            <a:br/>
            <a:br/>
            <a:r>
              <a:t>Live Platform: https://civicflow-ai-b2144.web.app/</a:t>
            </a:r>
          </a:p>
        </p:txBody>
      </p:sp>
      <p:pic>
        <p:nvPicPr>
          <p:cNvPr id="7" name="Picture 6" descr="media_17898870177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08760"/>
            <a:ext cx="2468880" cy="2512911"/>
          </a:xfrm>
          <a:prstGeom prst="rect">
            <a:avLst/>
          </a:prstGeom>
        </p:spPr>
      </p:pic>
      <p:pic>
        <p:nvPicPr>
          <p:cNvPr id="8" name="Picture 7" descr="media_17898870587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508760"/>
            <a:ext cx="2468880" cy="230330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1277295" cy="6126480"/>
          </a:xfrm>
          <a:prstGeom prst="roundRect">
            <a:avLst/>
          </a:prstGeom>
          <a:solidFill>
            <a:srgbClr val="0F15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</a:defRPr>
            </a:pPr>
            <a:r>
              <a:t>SLIDE 2 ·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Civic Resolution Bottlenecks in Urban India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1206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Slide 2 · Problem Statement Civic Resolution Bottlenecks in Urban India 📝 1. Delayed Department Routing Citizens struggle to determine whether a pothole, leaking pipe, or sparking wire belongs to Municipal, Water, or Electricity authorities. Manual triage causes weeks of delay. 🚨 2. Unidentified Emergencies Critical public-safety hazards (live sparking wires, collapsed walls) get mixed into routine sanitation queues without immediate 112 escalation. 🔁 3. Duplicate Grievance Spam Hundreds of citizens report the exact same road crater, clogging municipal backlogs with redundant incident tickets. 🌐 4. Cloud Network Dependency Pure cloud AI apps fail completely in network dead-zones or disaster scenarios, preventing citizens from filing urgent reports. Live Citizen Registration Interface (`https://civicflow-ai-b2144.web.app/`)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📝 1. Delayed Department Routing Citizens struggle to determine whether a pothole, leaking pipe, or sparking wire belongs to Municipal, Water, or Electricity authorities. Manual triage causes weeks of delay.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🚨 2. Unidentified Emergencies Critical public-safety hazards (live sparking wires, collapsed walls) get mixed into routine sanitation queues without immediate 112 escalation.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🔁 3. Duplicate Grievance Spam Hundreds of citizens report the exact same road crater, clogging municipal backlogs with redundant incident tickets.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🌐 4. Cloud Network Dependency Pure cloud AI apps fail completely in network dead-zones or disaster scenarios, preventing citizens from filing urgent reports.</a:t>
            </a:r>
          </a:p>
        </p:txBody>
      </p:sp>
      <p:pic>
        <p:nvPicPr>
          <p:cNvPr id="7" name="Picture 6" descr="media_17898870436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00200"/>
            <a:ext cx="5120640" cy="67246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1277295" cy="6126480"/>
          </a:xfrm>
          <a:prstGeom prst="roundRect">
            <a:avLst/>
          </a:prstGeom>
          <a:solidFill>
            <a:srgbClr val="0F15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</a:defRPr>
            </a:pPr>
            <a:r>
              <a:t>SLIDE 3 · 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CivicFlow AI — Citizen Intake 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1206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Slide 3 · Our Solution CivicFlow AI — Citizen Intake Hub 🎤 1. Multimodal Phone Intake Text description, Indian English Web Speech-to-Text, camera evidence compression, and auto 1-tap GPS geolocation. ⚡ 2. On-Device NPU + Cloud AI Engine Snapdragon NPU `CivicHashNgram-128` runs locally in 0ms offline. Cloud Gemini Flash enriches detailed mail drafts when online. 🛡️ 3. Command Center &amp; 112 Triage Instant department routing, 112 emergency calls for critical hazards, 450m radius hotspot clustering, and live status tracking. Live Citizen Welcome Hub (`View My Complaints` / `Raise New Complaint`)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🎤 1. Multimodal Phone Intake Text description, Indian English Web Speech-to-Text, camera evidence compression, and auto 1-tap GPS geolocation.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⚡ 2. On-Device NPU + Cloud AI Engine Snapdragon NPU `CivicHashNgram-128` runs locally in 0ms offline. Cloud Gemini Flash enriches detailed mail drafts when online.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🛡️ 3. Command Center &amp; 112 Triage Instant department routing, 112 emergency calls for critical hazards, 450m radius hotspot clustering, and live status tracking.</a:t>
            </a:r>
          </a:p>
        </p:txBody>
      </p:sp>
      <p:pic>
        <p:nvPicPr>
          <p:cNvPr id="7" name="Picture 6" descr="media_17898870883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00200"/>
            <a:ext cx="5120640" cy="293536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1277295" cy="6126480"/>
          </a:xfrm>
          <a:prstGeom prst="roundRect">
            <a:avLst/>
          </a:prstGeom>
          <a:solidFill>
            <a:srgbClr val="0F15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</a:defRPr>
            </a:pPr>
            <a:r>
              <a:t>SLIDE 4 · PROCESSING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Complaint Submission &amp; AI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0292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Slide 4 · Processing Flow Complaint Submission &amp; AI Analysis 1. Citizen Intake &amp; Photo Evidence Attachment 2. AI-Generated Draft &amp; Priority Rationale Processing Pipeline Details 1. Multimodal Citizen Input Citizens describe issues via text or 1-tap Speech-to-Text (`en-IN`) and attach camera evidence (`road.jfif`). 2. 🤖 Analyze Issue with AI Processes issue description, location context (`Kamayyathopu, Vijayawada`), and assigns department &amp; severity. 3. Automated Official Draft &amp; Rationale Generates formal mail draft (`To: The Municipal Authority`), priority score (`58/100`), summary, routing rationale, and 92% confidence layer.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1. Multimodal Citizen Input Citizens describe issues via text or 1-tap Speech-to-Text (`en-IN`) and attach camera evidence (`road.jfif`).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2. 🤖 Analyze Issue with AI Processes issue description, location context (`Kamayyathopu, Vijayawada`), and assigns department &amp; severity.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3. Automated Official Draft &amp; Rationale Generates formal mail draft (`To: The Municipal Authority`), priority score (`58/100`), summary, routing rationale, and 92% confidence layer.</a:t>
            </a:r>
          </a:p>
        </p:txBody>
      </p:sp>
      <p:pic>
        <p:nvPicPr>
          <p:cNvPr id="7" name="Picture 6" descr="media_17900781609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08760"/>
            <a:ext cx="2663351" cy="2148840"/>
          </a:xfrm>
          <a:prstGeom prst="rect">
            <a:avLst/>
          </a:prstGeom>
        </p:spPr>
      </p:pic>
      <p:pic>
        <p:nvPicPr>
          <p:cNvPr id="8" name="Picture 7" descr="media_17900781917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794760"/>
            <a:ext cx="2774795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1277295" cy="6126480"/>
          </a:xfrm>
          <a:prstGeom prst="roundRect">
            <a:avLst/>
          </a:prstGeom>
          <a:solidFill>
            <a:srgbClr val="0F15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</a:defRPr>
            </a:pPr>
            <a:r>
              <a:t>SLIDE 5 · TECHNICAL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On-Device NPU + Hybrid Cloud AI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Slide 5 · Technical Architecture On-Device NPU + Hybrid Cloud AI Engine ⚡ 1. Local On-Device NPU Model CivicHashNgram-128 executes locally on phone hardware (Snapdragon NPU). Performs N-gram lexical scoring and emergency triage in 0ms offline. ☁️ 2. Cloud Gemini Flash Layer When online, requests enrich via Gemini Flash for deep semantic reasoning, formal email formatting, and multimodal image inspection. 🛡️ 3. Resilient Fallback Contract If cloud network drops, system seamlessly falls back to the local NPU classifier without freezing or failing user requests. // Hybrid Architecture Execution Flow const local = classifyLocal(problem, city); try { const cloud = await runGemini(problem, city); return mergeHybrid(local, cloud); } catch (netErr) { // Zero latency offline fallback return local; }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⚡ 1. Local On-Device NPU Model CivicHashNgram-128 executes locally on phone hardware (Snapdragon NPU). Performs N-gram lexical scoring and emergency triage in 0ms offline.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☁️ 2. Cloud Gemini Flash Layer When online, requests enrich via Gemini Flash for deep semantic reasoning, formal email formatting, and multimodal image inspection.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🛡️ 3. Resilient Fallback Contract If cloud network drops, system seamlessly falls back to the local NPU classifier without freezing or failing user requests.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// Hybrid Architecture Execution Flow const local = classifyLocal(problem, city); try { const cloud = await runGemini(problem, city); return mergeHybrid(local, cloud); } catch (netErr) { // Zero latency offline fallback return local;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1277295" cy="6126480"/>
          </a:xfrm>
          <a:prstGeom prst="roundRect">
            <a:avLst/>
          </a:prstGeom>
          <a:solidFill>
            <a:srgbClr val="0F15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</a:defRPr>
            </a:pPr>
            <a:r>
              <a:t>SLIDE 6 · HARDWARE &amp; OFFICE KIT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Creative Phone Use &amp; Office Kit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Slide 6 · Hardware &amp; Office Kit Creative Phone Use &amp; Office Kit Bridge 📱 Creative Phone-First Intake • Voice Dictation: Native Speech Recognition API in Indian English accents. • Camera Hardware: Direct camera capture with 1280px client-side canvas compression. • GPS Geolocation: Single-tap OpenStreetMap reverse geocoding to pinpoint coordinates. 💻 Office Kit Phone-to-Laptop Bridge • Screen Mirroring: Live pitch &amp; command monitoring via Office Kit. • Clipboard Sharing: Instant transfer of generated grievance reports across devices. • Remote Command Control: Operators audit phone field reports directly from laptop desks. iQOO Snapdragon NPU: Target hardware for zero-latency local inference HackTracker Score: Optimized for Creative Phone + Office Kit evaluation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📱 Creative Phone-First Intake • Voice Dictation: Native Speech Recognition API in Indian English accents. • Camera Hardware: Direct camera capture with 1280px client-side canvas compression. • GPS Geolocation: Single-tap OpenStreetMap reverse geocoding to pinpoint coordinates.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💻 Office Kit Phone-to-Laptop Bridge • Screen Mirroring: Live pitch &amp; command monitoring via Office Kit. • Clipboard Sharing: Instant transfer of generated grievance reports across devices. • Remote Command Control: Operators audit phone field reports directly from laptop desks.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iQOO Snapdragon NPU: Target hardware for zero-latency local inference HackTracker Score: Optimized for Creative Phone + Office Kit evaluation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1277295" cy="6126480"/>
          </a:xfrm>
          <a:prstGeom prst="roundRect">
            <a:avLst/>
          </a:prstGeom>
          <a:solidFill>
            <a:srgbClr val="0F15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</a:defRPr>
            </a:pPr>
            <a:r>
              <a:t>SLIDE 7 · EMERGENCY &amp; SLA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112 Emergency Protocol &amp; Real-Time SLAs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0292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Slide 7 · Emergency &amp; SLA Engine 112 Emergency Protocol &amp; Real-Time SLAs 🚨 112 Emergency Action Protocol CRITICAL Detects life-threatening events (sparking transformers, structural collapse, armed violence, medical emergencies) and injects a prominent 112 direct call action button. *Never fakes dispatch — directs citizens to official emergency channels immediately. ⏱️ Service Level Agreement (SLA) Deadlines • Critical: 15 Mins • High: 120 Mins • Medium: 24 Hours • Low: 72 Hours AI Analysis Result &amp; Direct 112 Action Banner Authority SLA &amp; Escalation Monitoring Dashboard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🚨 112 Emergency Action Protocol CRITICAL Detects life-threatening events (sparking transformers, structural collapse, armed violence, medical emergencies) and injects a prominent 112 direct call action button. *Never fakes dispatch — directs citizens to official emergency channels immediately.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*Never fakes dispatch — directs citizens to official emergency channels immediately.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⏱️ Service Level Agreement (SLA) Deadlines • Critical: 15 Mins • High: 120 Mins • Medium: 24 Hours • Low: 72 Hours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• Critical: 15 Mins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• High: 120 Mins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• Medium: 24 Hours</a:t>
            </a:r>
          </a:p>
        </p:txBody>
      </p:sp>
      <p:pic>
        <p:nvPicPr>
          <p:cNvPr id="7" name="Picture 6" descr="media_1790079224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08760"/>
            <a:ext cx="2918027" cy="2148840"/>
          </a:xfrm>
          <a:prstGeom prst="rect">
            <a:avLst/>
          </a:prstGeom>
        </p:spPr>
      </p:pic>
      <p:pic>
        <p:nvPicPr>
          <p:cNvPr id="8" name="Picture 7" descr="media_17900795535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794760"/>
            <a:ext cx="4097602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1277295" cy="6126480"/>
          </a:xfrm>
          <a:prstGeom prst="roundRect">
            <a:avLst/>
          </a:prstGeom>
          <a:solidFill>
            <a:srgbClr val="0F15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</a:defRPr>
            </a:pPr>
            <a:r>
              <a:t>SLIDE 8 · SPATIAL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450m Radius Hotspots &amp; Cosine Duplicates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0292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Slide 8 · Spatial Intelligence 450m Radius Hotspots &amp; Cosine Duplicates Live Interactive Hotspot Map View Geographic 450m Issue Clusters View 📍 Haversine Geographic Distance Calculates exact meter distances between citizen complaints to verify spatial proximity. ⭕ 450-Meter Radius Issue Grouping Automatically aggregates multiple reports within 450m into single department hotspot clusters. 🔍 Cosine Text Similarity Detects duplicate issue descriptions (e.g. 92% similarity match) to prevent backlog spam.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📍 Haversine Geographic Distance Calculates exact meter distances between citizen complaints to verify spatial proximity.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⭕ 450-Meter Radius Issue Grouping Automatically aggregates multiple reports within 450m into single department hotspot clusters.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🔍 Cosine Text Similarity Detects duplicate issue descriptions (e.g. 92% similarity match) to prevent backlog spam.</a:t>
            </a:r>
          </a:p>
        </p:txBody>
      </p:sp>
      <p:pic>
        <p:nvPicPr>
          <p:cNvPr id="7" name="Picture 6" descr="media_17900802436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08760"/>
            <a:ext cx="5012328" cy="2148840"/>
          </a:xfrm>
          <a:prstGeom prst="rect">
            <a:avLst/>
          </a:prstGeom>
        </p:spPr>
      </p:pic>
      <p:pic>
        <p:nvPicPr>
          <p:cNvPr id="8" name="Picture 7" descr="media_17900795193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794760"/>
            <a:ext cx="2853972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1277295" cy="6126480"/>
          </a:xfrm>
          <a:prstGeom prst="roundRect">
            <a:avLst/>
          </a:prstGeom>
          <a:solidFill>
            <a:srgbClr val="0F15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</a:defRPr>
            </a:pPr>
            <a:r>
              <a:t>SLIDE 9 · COMMAND CENTER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Authority Action Queue &amp;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1206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Slide 9 · Command Center Authority Action Queue &amp; Dashboard 📥 Action Queue Columns Incidents triaged into CRITICAL, HIGH, and NORMAL severity columns for rapid dispatch. 🔄 Status Select Controls Update status real-time: Submitted ➔ Under Review ➔ In Progress ➔ Resolved . ⏱️ Real-Time SLA Monitoring Overdue complaints trigger automated AI escalation warnings on officer screens. Live Authority AI Action Queue &amp; Demo Controls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📥 Action Queue Columns Incidents triaged into CRITICAL, HIGH, and NORMAL severity columns for rapid dispatch.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🔄 Status Select Controls Update status real-time: Submitted ➔ Under Review ➔ In Progress ➔ Resolved 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⏱️ Real-Time SLA Monitoring Overdue complaints trigger automated AI escalation warnings on officer screens.</a:t>
            </a:r>
          </a:p>
        </p:txBody>
      </p:sp>
      <p:pic>
        <p:nvPicPr>
          <p:cNvPr id="7" name="Picture 6" descr="media_17900798366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00200"/>
            <a:ext cx="5120640" cy="700131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1277295" cy="6126480"/>
          </a:xfrm>
          <a:prstGeom prst="roundRect">
            <a:avLst/>
          </a:prstGeom>
          <a:solidFill>
            <a:srgbClr val="0F15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</a:defRPr>
            </a:pPr>
            <a:r>
              <a:t>SLIDE 10 · CITIZEN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My Complaints &amp; 5-Step Timeline Modal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0292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Slide 10 · Citizen Tracking My Complaints &amp; 5-Step Timeline Modal Live My Complaints Account Filtered List View Live 5-Step Grievance Status Timeline Modal 📱 Account &amp; Device Isolation Strictly filters grievances by logged-in Firebase user account or guest deviceId . ⏱️ 5-Step Visual Timeline Live progress tracking: Submitted ➔ Under Review ➔ Assigned ➔ In Progress ➔ Resolved 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📱 Account &amp; Device Isolation Strictly filters grievances by logged-in Firebase user account or guest deviceId 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⏱️ 5-Step Visual Timeline Live progress tracking: Submitted ➔ Under Review ➔ Assigned ➔ In Progress ➔ Resolved .</a:t>
            </a:r>
          </a:p>
        </p:txBody>
      </p:sp>
      <p:pic>
        <p:nvPicPr>
          <p:cNvPr id="7" name="Picture 6" descr="media_17900805241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08760"/>
            <a:ext cx="2500982" cy="2148840"/>
          </a:xfrm>
          <a:prstGeom prst="rect">
            <a:avLst/>
          </a:prstGeom>
        </p:spPr>
      </p:pic>
      <p:pic>
        <p:nvPicPr>
          <p:cNvPr id="8" name="Picture 7" descr="media_17900805619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794760"/>
            <a:ext cx="1913877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1277295" cy="6126480"/>
          </a:xfrm>
          <a:prstGeom prst="roundRect">
            <a:avLst/>
          </a:prstGeom>
          <a:solidFill>
            <a:srgbClr val="0F15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</a:defRPr>
            </a:pPr>
            <a:r>
              <a:t>SLIDE 11 · DECISION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Authority AI Executive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1206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Slide 11 · Decision Support Authority AI Executive Insights 📈 Spike Detection Algorithms Identifies sudden percentage surges in department workloads. 🚨 City-Wide Emergency Proportions Calculates critical emergency ratios across municipal wards. ⭕ Infrastructure Bottleneck Telemetry Highlights systemic failures for municipal commissioners &amp; command center staff. Live Authority AI Executive Insights Report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📈 Spike Detection Algorithms Identifies sudden percentage surges in department workloads.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🚨 City-Wide Emergency Proportions Calculates critical emergency ratios across municipal wards.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⭕ Infrastructure Bottleneck Telemetry Highlights systemic failures for municipal commissioners &amp; command center staff.</a:t>
            </a:r>
          </a:p>
        </p:txBody>
      </p:sp>
      <p:pic>
        <p:nvPicPr>
          <p:cNvPr id="7" name="Picture 6" descr="media_17900810941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00200"/>
            <a:ext cx="5120640" cy="160520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1277295" cy="6126480"/>
          </a:xfrm>
          <a:prstGeom prst="roundRect">
            <a:avLst/>
          </a:prstGeom>
          <a:solidFill>
            <a:srgbClr val="0F15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</a:defRPr>
            </a:pPr>
            <a:r>
              <a:t>SLIDE 12 · BACKEND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Production Environment &amp; IPv4 SMTP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0292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Slide 12 · Backend Infrastructure Production Environment &amp; IPv4 SMTP Engine 🛡️ Configured Render Environment Variables Verified production setup for SENDER_EMAIL ( civicflow.grievance.ai@gmail.com ), SENDER_PASSWORD &amp; GEMINI_API_KEY . 🌐 Custom IPv4 Socket Transport Bypasses cloud IPv6 container restrictions using IPv4SMTP and IPv4SMTP_SSL wrappers with strict TLS certificate verification. Verified Render Production Env Vars Live Active Render Backend Deployment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🛡️ Configured Render Environment Variables Verified production setup for SENDER_EMAIL ( civicflow.grievance.ai@gmail.com ), SENDER_PASSWORD &amp; GEMINI_API_KEY 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🌐 Custom IPv4 Socket Transport Bypasses cloud IPv6 container restrictions using IPv4SMTP and IPv4SMTP_SSL wrappers with strict TLS certificate verification.</a:t>
            </a:r>
          </a:p>
        </p:txBody>
      </p:sp>
      <p:pic>
        <p:nvPicPr>
          <p:cNvPr id="7" name="Picture 6" descr="media_17900814571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08760"/>
            <a:ext cx="5165287" cy="2148840"/>
          </a:xfrm>
          <a:prstGeom prst="rect">
            <a:avLst/>
          </a:prstGeom>
        </p:spPr>
      </p:pic>
      <p:pic>
        <p:nvPicPr>
          <p:cNvPr id="8" name="Picture 7" descr="media_17900814838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794760"/>
            <a:ext cx="3820160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1277295" cy="6126480"/>
          </a:xfrm>
          <a:prstGeom prst="roundRect">
            <a:avLst/>
          </a:prstGeom>
          <a:solidFill>
            <a:srgbClr val="0F15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</a:defRPr>
            </a:pPr>
            <a:r>
              <a:t>SLIDE 13 · NEW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Dynamic Formal Email Generation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1206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Slide 13 · New Feature Dynamic Formal Email Generation Engine ✉️ Single-Line Expansion into Official Letters Transforms brief citizen complaints (e.g., "The Roads Are not cleaned properly near my house" ) into multi-paragraph formal letters with official titles (`To: General Authority`), formal salutations (`Respected Sir/Madam`), health impact warnings, and call-to-action requests. ⚡ Dual-Layer Execution Guaranteed matching letter generation in both Python backend (`backend/civic_intelligence.py`) and offline browser JS engine (`frontend/src/lib/localClassify.js`). Actual Received Civic Grievance Email (Gmail)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✉️ Single-Line Expansion into Official Letters Transforms brief citizen complaints (e.g., "The Roads Are not cleaned properly near my house" ) into multi-paragraph formal letters with official titles (`To: General Authority`), formal salutations (`Respected Sir/Madam`), health impact warnings, and call-to-action requests.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⚡ Dual-Layer Execution Guaranteed matching letter generation in both Python backend (`backend/civic_intelligence.py`) and offline browser JS engine (`frontend/src/lib/localClassify.js`).</a:t>
            </a:r>
          </a:p>
        </p:txBody>
      </p:sp>
      <p:pic>
        <p:nvPicPr>
          <p:cNvPr id="7" name="Picture 6" descr="media_17900815462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00200"/>
            <a:ext cx="5120640" cy="383127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1277295" cy="6126480"/>
          </a:xfrm>
          <a:prstGeom prst="roundRect">
            <a:avLst/>
          </a:prstGeom>
          <a:solidFill>
            <a:srgbClr val="0F15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</a:defRPr>
            </a:pPr>
            <a:r>
              <a:t>SLIDE 14 · DISPATCH RELIABILITY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Dual-Email Dispatch &amp; Non-Daemon Handoff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1206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Slide 14 · Dispatch Reliability Dual-Email Dispatch &amp; Non-Daemon Handoff Received Citizen Submission Confirmation Email 📬 Dual Primary &amp; Confirmation Recipients Sends Authority Email to `civicflow.grievance.ai@gmail.com` + Citizen Confirmation Email to citizen's personal address with tracking details and SLA parameters. 🚀 Fast Handoff (&lt; 2 Seconds HTTP 200 OK) Offloads SMTP dispatches to non-daemon background threads (`daemon=False`), returning HTTP 200 OK immediately without Gunicorn worker timeouts.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📬 Dual Primary &amp; Confirmation Recipients Sends Authority Email to `civicflow.grievance.ai@gmail.com` + Citizen Confirmation Email to citizen's personal address with tracking details and SLA parameters.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🚀 Fast Handoff (&lt; 2 Seconds HTTP 200 OK) Offloads SMTP dispatches to non-daemon background threads (`daemon=False`), returning HTTP 200 OK immediately without Gunicorn worker timeouts.</a:t>
            </a:r>
          </a:p>
        </p:txBody>
      </p:sp>
      <p:pic>
        <p:nvPicPr>
          <p:cNvPr id="7" name="Picture 6" descr="media_17900815791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00200"/>
            <a:ext cx="5120640" cy="451120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1277295" cy="6126480"/>
          </a:xfrm>
          <a:prstGeom prst="roundRect">
            <a:avLst/>
          </a:prstGeom>
          <a:solidFill>
            <a:srgbClr val="0F15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</a:defRPr>
            </a:pPr>
            <a:r>
              <a:t>SLIDE 15 · LOCATION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Dynamic Location Fallbacks &amp; Google Maps URLs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0292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Slide 15 · Location Engine Dynamic Location Fallbacks &amp; Google Maps URLs MAP Multi-Tier Location Fallback Engine Prevents `Not provided` / `N/A` text by evaluating: `detailed_location` ➔ `city` ➔ `"Vijayawada / Reported Area"`. 📌 Clickable Google Maps Integration Generates direct lat/lng coordinates map links ( https://www.google.com/maps?q=16.483,80.685 ) dispatched directly inside formal grievance emails for field officers. 1. Received Email with Coordinates &amp; Direct Google Maps Link 2. Clicked Google Maps Live Pin View (16.483269, 80.685425)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MAP Multi-Tier Location Fallback Engine Prevents `Not provided` / `N/A` text by evaluating: `detailed_location` ➔ `city` ➔ `"Vijayawada / Reported Area"`.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📌 Clickable Google Maps Integration Generates direct lat/lng coordinates map links ( https://www.google.com/maps?q=16.483,80.685 ) dispatched directly inside formal grievance emails for field officers.</a:t>
            </a:r>
          </a:p>
        </p:txBody>
      </p:sp>
      <p:pic>
        <p:nvPicPr>
          <p:cNvPr id="7" name="Picture 6" descr="media_17900822141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08760"/>
            <a:ext cx="4323010" cy="2148840"/>
          </a:xfrm>
          <a:prstGeom prst="rect">
            <a:avLst/>
          </a:prstGeom>
        </p:spPr>
      </p:pic>
      <p:pic>
        <p:nvPicPr>
          <p:cNvPr id="8" name="Picture 7" descr="media_17900822058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794760"/>
            <a:ext cx="3971863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1277295" cy="6126480"/>
          </a:xfrm>
          <a:prstGeom prst="roundRect">
            <a:avLst/>
          </a:prstGeom>
          <a:solidFill>
            <a:srgbClr val="0F15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</a:defRPr>
            </a:pPr>
            <a:r>
              <a:t>SLIDE 16 · MOBILE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Native Android Mobile Application (`CivicFlow-AI.apk`)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Slide 16 · Mobile Ecosystem Native Android Mobile Application (`CivicFlow-AI.apk`) 📱 Built Native Android Application Fully compiled Android APK optimized for smartphones and field operations. Provides single-tap complaint logging, real-time tracking, and push notifications for citizens. 🚀 Mobile Field Readiness Empowers municipal workers and field inspectors to take photos on-site, view nearby 450m incident hotspots, and update complaint statuses directly from Android devices. 💾 Offline Local Storage &amp; Queue Stores draft grievances in local phone database when cellular coverage drops, auto-dispatching to server when network reconnects. 🤖 Android Native App Highlights Target OS: Android 8.0+ (API 26+) Hardware Acceleration: Snapdragon NPU Optimized Intake Speed: &lt; 3 Seconds per Complaint Distribution: Direct Android APK Package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📱 Built Native Android Application Fully compiled Android APK optimized for smartphones and field operations. Provides single-tap complaint logging, real-time tracking, and push notifications for citizens.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🚀 Mobile Field Readiness Empowers municipal workers and field inspectors to take photos on-site, view nearby 450m incident hotspots, and update complaint statuses directly from Android devices.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💾 Offline Local Storage &amp; Queue Stores draft grievances in local phone database when cellular coverage drops, auto-dispatching to server when network reconnects.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🤖 Android Native App Highlights Target OS: Android 8.0+ (API 26+) Hardware Acceleration: Snapdragon NPU Optimized Intake Speed: &lt; 3 Seconds per Complaint Distribution: Direct Android APK Package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Target OS: Android 8.0+ (API 26+)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Hardware Acceleration: Snapdragon NPU Optimized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Intake Speed: &lt; 3 Seconds per Complaint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Distribution: Direct Android APK Package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1277295" cy="6126480"/>
          </a:xfrm>
          <a:prstGeom prst="roundRect">
            <a:avLst/>
          </a:prstGeom>
          <a:solidFill>
            <a:srgbClr val="0F15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</a:defRPr>
            </a:pPr>
            <a:r>
              <a:t>SLIDE 17 · ANDROID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Android On-Device NPU Acceleration &amp; Sensor Sync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Slide 17 · Android Architecture Android On-Device NPU Acceleration &amp; Sensor Sync ⚡ Snapdragon NPU Hardware Acceleration Executes on-device N-gram classification directly inside the Android runtime. Analyzes text &amp; emergency flags with 0ms latency without transmitting sensitive unverified data to cloud servers. NpuEngine.classify(complaintText) -&gt; { dept: "Municipal", score: 88 } 🔌 Native Hardware Sensor Hooks Direct integration with native Android APIs: Camera2 API for client compressed photo capture, SpeechRecognizer for Indian English voice dictation, and FusedLocationProviderClient for precise GPS pins. fusedLocationClient.getLastLocation().addOnSuccessListener { ... }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⚡ Snapdragon NPU Hardware Acceleration Executes on-device N-gram classification directly inside the Android runtime. Analyzes text &amp; emergency flags with 0ms latency without transmitting sensitive unverified data to cloud servers. NpuEngine.classify(complaintText) -&gt; { dept: "Municipal", score: 88 }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NpuEngine.classify(complaintText) -&gt; { dept: "Municipal", score: 88 }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🔌 Native Hardware Sensor Hooks Direct integration with native Android APIs: Camera2 API for client compressed photo capture, SpeechRecognizer for Indian English voice dictation, and FusedLocationProviderClient for precise GPS pins. fusedLocationClient.getLastLocation().addOnSuccessListener { ... }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fusedLocationClient.getLastLocation().addOnSuccessListener { ... 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1277295" cy="6126480"/>
          </a:xfrm>
          <a:prstGeom prst="roundRect">
            <a:avLst/>
          </a:prstGeom>
          <a:solidFill>
            <a:srgbClr val="0F15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</a:defRPr>
            </a:pPr>
            <a:r>
              <a:t>SLIDE 18 · MULTIMODAL INTAKE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Indian English Speech-to-Text &amp; Canvas Compression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Slide 18 · Multimodal Intake Indian English Speech-to-Text &amp; Canvas Compression 🎙️ Native Web Speech API (`en-IN`) Allows citizens to speak their grievance naturally in Indian English accents. Real-time interim transcript rendering fills the intake text area automatically. rec.lang = "en-IN"; rec.interimResults = true; 🖼️ HTML5 Canvas Image Compression Compresses heavy camera photos (5MB+) down to 1280px WebP/JPEG binaries client-side before upload, saving 90% cellular data usage in remote areas. canvas.toBlob((blob) =&gt; resolve(blob), "image/jpeg", 0.82);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🎙️ Native Web Speech API (`en-IN`) Allows citizens to speak their grievance naturally in Indian English accents. Real-time interim transcript rendering fills the intake text area automatically. rec.lang = "en-IN"; rec.interimResults = true;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rec.lang = "en-IN"; rec.interimResults = true;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🖼️ HTML5 Canvas Image Compression Compresses heavy camera photos (5MB+) down to 1280px WebP/JPEG binaries client-side before upload, saving 90% cellular data usage in remote areas. canvas.toBlob((blob) =&gt; resolve(blob), "image/jpeg", 0.82);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canvas.toBlob((blob) =&gt; resolve(blob), "image/jpeg", 0.82);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1277295" cy="6126480"/>
          </a:xfrm>
          <a:prstGeom prst="roundRect">
            <a:avLst/>
          </a:prstGeom>
          <a:solidFill>
            <a:srgbClr val="0F15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</a:defRPr>
            </a:pPr>
            <a:r>
              <a:t>SLIDE 19 · BATTLE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TeamGaneshaa · iQOO Scoring Breakdown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Slide 19 · Battle Alignment TeamGaneshaa · iQOO Scoring Breakdown 🎯 Official Scoring Criteria Alignment • End Product Quality (30%): Production platform deployed live on Firebase, Render &amp; Native Android APK. • Novelty &amp; Impact (20%): Instant 112 emergency routing &amp; 450m geographic clustering. • Creative Phone Use (15%): Native Android app, Indian English speech-to-text, camera compression, GPS mapping. • Technical Depth (15%): Snapdragon NPU offline model + Gemini Flash hybrid AI engine. • Office Kit (10%): Field report intake mirrored directly to laptop command desk. 👥 Team Roster &amp; Roles Vajja Aravindh (Leader) vajjaaravindh@gmail.com · Full-Stack &amp; AI Architecture Vatsavai Venkatasai Devavarshita devavarshita2311@gmail.com · UI/UX &amp; Geospatial Mapping Makka Siva sivamakka14@gmail.com · Backend &amp; Data Pipelines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🎯 Official Scoring Criteria Alignment • End Product Quality (30%): Production platform deployed live on Firebase, Render &amp; Native Android APK. • Novelty &amp; Impact (20%): Instant 112 emergency routing &amp; 450m geographic clustering. • Creative Phone Use (15%): Native Android app, Indian English speech-to-text, camera compression, GPS mapping. • Technical Depth (15%): Snapdragon NPU offline model + Gemini Flash hybrid AI engine. • Office Kit (10%): Field report intake mirrored directly to laptop command desk.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👥 Team Roster &amp; Roles Vajja Aravindh (Leader) vajjaaravindh@gmail.com · Full-Stack &amp; AI Architecture Vatsavai Venkatasai Devavarshita devavarshita2311@gmail.com · UI/UX &amp; Geospatial Mapping Makka Siva sivamakka14@gmail.com · Backend &amp; Data Pipelines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Vajja Aravindh (Leader) vajjaaravindh@gmail.com · Full-Stack &amp; AI Architecture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Vatsavai Venkatasai Devavarshita devavarshita2311@gmail.com · UI/UX &amp; Geospatial Mapping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• Makka Siva sivamakka14@gmail.com · Backend &amp; Data Pipelines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11277295" cy="6126480"/>
          </a:xfrm>
          <a:prstGeom prst="roundRect">
            <a:avLst/>
          </a:prstGeom>
          <a:solidFill>
            <a:srgbClr val="0F15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</a:defRPr>
            </a:pPr>
            <a:r>
              <a:t>SLIDE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CIVICFLOW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45920"/>
            <a:ext cx="9418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  <a:defRPr sz="2200" b="1">
                <a:solidFill>
                  <a:srgbClr val="06B6D4"/>
                </a:solidFill>
              </a:defRPr>
            </a:pPr>
            <a:r>
              <a:t>CIVICFLOW AI — Live Project Showcase Links</a:t>
            </a:r>
          </a:p>
          <a:p>
            <a:pPr algn="ctr">
              <a:spcAft>
                <a:spcPts val="1200"/>
              </a:spcAft>
              <a:defRPr sz="1300">
                <a:solidFill>
                  <a:srgbClr val="FFFFFF"/>
                </a:solidFill>
              </a:defRPr>
            </a:pPr>
            <a:r>
              <a:t>Live Firebase Web App: https://civicflow-ai-b2144.web.app/</a:t>
            </a:r>
          </a:p>
          <a:p>
            <a:pPr algn="ctr">
              <a:spcAft>
                <a:spcPts val="1200"/>
              </a:spcAft>
              <a:defRPr sz="1300">
                <a:solidFill>
                  <a:srgbClr val="FFFFFF"/>
                </a:solidFill>
              </a:defRPr>
            </a:pPr>
            <a:r>
              <a:t>Live Render Backend API: https://civicflow-backend-hi63.onrender.com/</a:t>
            </a:r>
          </a:p>
          <a:p>
            <a:pPr algn="ctr">
              <a:spcAft>
                <a:spcPts val="1200"/>
              </a:spcAft>
              <a:defRPr sz="1300">
                <a:solidFill>
                  <a:srgbClr val="FFFFFF"/>
                </a:solidFill>
              </a:defRPr>
            </a:pPr>
            <a:r>
              <a:t>GitHub Source Code: https://github.com/Aravindh9652/CivicFlow-AI</a:t>
            </a:r>
          </a:p>
          <a:p>
            <a:pPr algn="ctr">
              <a:defRPr sz="1600" b="1">
                <a:solidFill>
                  <a:srgbClr val="C084FC"/>
                </a:solidFill>
              </a:defRPr>
            </a:pPr>
            <a:br/>
            <a:r>
              <a:t>Thank You!</a:t>
            </a:r>
            <a:br/>
            <a:r>
              <a:t>TeamGaneshaa · iQOO City Battles 2026 · Hyderabad Battle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